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46720" y="0"/>
            <a:ext cx="50292" cy="6858000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0" y="731520"/>
            <a:ext cx="3017520" cy="50292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0" y="6080760"/>
            <a:ext cx="3017520" cy="50292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9920" y="1005840"/>
            <a:ext cx="50292" cy="4846320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82296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5F0E8"/>
                </a:solidFill>
                <a:latin typeface="Georgia"/>
              </a:rPr>
              <a:t>STUDENT 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8FC4A6"/>
                </a:solidFill>
                <a:latin typeface="Georgia"/>
              </a:rPr>
              <a:t>HEALTH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71800"/>
            <a:ext cx="5486400" cy="36576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E0D0"/>
                </a:solidFill>
                <a:latin typeface="Calibri"/>
              </a:rPr>
              <a:t>A Predictive Modeling and Classification Approach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31920"/>
            <a:ext cx="1691640" cy="438912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931920"/>
            <a:ext cx="36576" cy="438912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977639"/>
            <a:ext cx="157276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8FC4A6"/>
                </a:solidFill>
                <a:latin typeface="Calibri"/>
              </a:rPr>
              <a:t>Burnout Prediction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931920"/>
            <a:ext cx="1691640" cy="438912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331720" y="3931920"/>
            <a:ext cx="36576" cy="438912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23160" y="3977639"/>
            <a:ext cx="1572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FC4A6"/>
                </a:solidFill>
                <a:latin typeface="Calibri"/>
              </a:rPr>
              <a:t>Stress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931920"/>
            <a:ext cx="1691640" cy="438912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60520" y="3931920"/>
            <a:ext cx="36576" cy="438912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51959" y="3977639"/>
            <a:ext cx="157276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FC4A6"/>
                </a:solidFill>
                <a:latin typeface="Calibri"/>
              </a:rPr>
              <a:t>Mental Health Trends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3931920"/>
            <a:ext cx="1691640" cy="438912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89320" y="3931920"/>
            <a:ext cx="36576" cy="438912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59" y="3977639"/>
            <a:ext cx="157276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FC4A6"/>
                </a:solidFill>
                <a:latin typeface="Calibri"/>
              </a:rPr>
              <a:t>Academic Pressure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1772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528A68"/>
                </a:solidFill>
                <a:latin typeface="Calibri"/>
              </a:rPr>
              <a:t>Multiple Linear Regression  ·  Residual Analysis  ·  Classification  ·  Descriptive Statistics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011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F0E8"/>
                </a:solidFill>
                <a:latin typeface="Georgia"/>
              </a:rPr>
              <a:t>RESEARCH
SCOPE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3017520"/>
            <a:ext cx="2468880" cy="47548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86800" y="3017520"/>
            <a:ext cx="36576" cy="47548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31089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0E8"/>
                </a:solidFill>
                <a:latin typeface="Calibri"/>
              </a:rPr>
              <a:t>Burnout Risk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3675887"/>
            <a:ext cx="2468880" cy="47548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686800" y="3675887"/>
            <a:ext cx="36576" cy="47548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23960" y="3767327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0E8"/>
                </a:solidFill>
                <a:latin typeface="Calibri"/>
              </a:rPr>
              <a:t>Stress Factors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4334256"/>
            <a:ext cx="2468880" cy="47548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686800" y="4334256"/>
            <a:ext cx="36576" cy="47548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23960" y="44256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0E8"/>
                </a:solidFill>
                <a:latin typeface="Calibri"/>
              </a:rPr>
              <a:t>Trend Patterns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4992624"/>
            <a:ext cx="2468880" cy="47548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686800" y="4992624"/>
            <a:ext cx="36576" cy="47548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23960" y="50840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0E8"/>
                </a:solidFill>
                <a:latin typeface="Calibri"/>
              </a:rPr>
              <a:t>Pressure 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6172200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528A68"/>
                </a:solidFill>
                <a:latin typeface="Calibri"/>
              </a:rPr>
              <a:t>Academic Year 1–4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0E8"/>
                </a:solidFill>
                <a:latin typeface="Georgia"/>
              </a:rPr>
              <a:t>OBJECTIVES &amp;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22960"/>
            <a:ext cx="11183112" cy="32004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960120"/>
            <a:ext cx="5349240" cy="534924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5349240" cy="475488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960120"/>
            <a:ext cx="50292" cy="5349240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00584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8FC4A6"/>
                </a:solidFill>
                <a:latin typeface="Calibri"/>
              </a:rPr>
              <a:t>STUDY OBJECTIVES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5166360" cy="914400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600200"/>
            <a:ext cx="411480" cy="91440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" y="185623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FC4A6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1655064"/>
            <a:ext cx="448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5F0E8"/>
                </a:solidFill>
                <a:latin typeface="Calibri"/>
              </a:rPr>
              <a:t>Predict student burnout levels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039112"/>
            <a:ext cx="4480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0D0"/>
                </a:solidFill>
                <a:latin typeface="Calibri"/>
              </a:rPr>
              <a:t>Identify key predictors of burnout using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697480"/>
            <a:ext cx="5166360" cy="914400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2697480"/>
            <a:ext cx="411480" cy="91440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" y="295351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FC4A6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752344"/>
            <a:ext cx="448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5F0E8"/>
                </a:solidFill>
                <a:latin typeface="Calibri"/>
              </a:rPr>
              <a:t>Analyze determinants of student stress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136392"/>
            <a:ext cx="4480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0D0"/>
                </a:solidFill>
                <a:latin typeface="Calibri"/>
              </a:rPr>
              <a:t>Understand factors that elevate stress 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794760"/>
            <a:ext cx="5166360" cy="914400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794760"/>
            <a:ext cx="411480" cy="91440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" y="405079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FC4A6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849624"/>
            <a:ext cx="448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5F0E8"/>
                </a:solidFill>
                <a:latin typeface="Calibri"/>
              </a:rPr>
              <a:t>Examine mental health trends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233672"/>
            <a:ext cx="4480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0D0"/>
                </a:solidFill>
                <a:latin typeface="Calibri"/>
              </a:rPr>
              <a:t>Track risk patterns across academic year levels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892040"/>
            <a:ext cx="5166360" cy="914400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4892040"/>
            <a:ext cx="411480" cy="91440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504" y="51480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FC4A6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946903"/>
            <a:ext cx="448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5F0E8"/>
                </a:solidFill>
                <a:latin typeface="Calibri"/>
              </a:rPr>
              <a:t>Assess impact of academic pressure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5330952"/>
            <a:ext cx="4480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0D0"/>
                </a:solidFill>
                <a:latin typeface="Calibri"/>
              </a:rPr>
              <a:t>Quantify academic pressure on overall wellbeing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36792" y="960120"/>
            <a:ext cx="5349240" cy="534924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36792" y="960120"/>
            <a:ext cx="5349240" cy="475488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36792" y="960120"/>
            <a:ext cx="50292" cy="534924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100584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E8A83A"/>
                </a:solidFill>
                <a:latin typeface="Calibri"/>
              </a:rPr>
              <a:t>METHODOLOGY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28232" y="1600200"/>
            <a:ext cx="5166360" cy="914400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28232" y="1600200"/>
            <a:ext cx="50292" cy="91440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65392" y="1645920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F0E8"/>
                </a:solidFill>
                <a:latin typeface="Calibri"/>
              </a:rPr>
              <a:t>Multiple Linear Regression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5392" y="1984248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E8A83A"/>
                </a:solidFill>
                <a:latin typeface="Calibri"/>
              </a:rPr>
              <a:t>Predictive Modeling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2194560"/>
            <a:ext cx="484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28A68"/>
                </a:solidFill>
                <a:latin typeface="Calibri"/>
              </a:rPr>
              <a:t>Models the relationship between predictors and outcome variables (burnout / stress).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28232" y="2697480"/>
            <a:ext cx="5166360" cy="914400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28232" y="2697480"/>
            <a:ext cx="50292" cy="91440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65392" y="2743200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F0E8"/>
                </a:solidFill>
                <a:latin typeface="Calibri"/>
              </a:rPr>
              <a:t>Residual Analysis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3081528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E8A83A"/>
                </a:solidFill>
                <a:latin typeface="Calibri"/>
              </a:rPr>
              <a:t>Model Evaluation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3291840"/>
            <a:ext cx="484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28A68"/>
                </a:solidFill>
                <a:latin typeface="Calibri"/>
              </a:rPr>
              <a:t>Measures the gap between predicted and actual values to reveal hidden patterns.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28232" y="3794760"/>
            <a:ext cx="5166360" cy="914400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28232" y="3794760"/>
            <a:ext cx="50292" cy="91440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65392" y="3840480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F0E8"/>
                </a:solidFill>
                <a:latin typeface="Calibri"/>
              </a:rPr>
              <a:t>Classification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5392" y="4178808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E8A83A"/>
                </a:solidFill>
                <a:latin typeface="Calibri"/>
              </a:rPr>
              <a:t>Risk Segmentation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5392" y="4389120"/>
            <a:ext cx="484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28A68"/>
                </a:solidFill>
                <a:latin typeface="Calibri"/>
              </a:rPr>
              <a:t>Categorises students as High Risk or Low Risk based on residual score direction.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28232" y="4892040"/>
            <a:ext cx="5166360" cy="914400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28232" y="4892040"/>
            <a:ext cx="50292" cy="91440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65392" y="4937759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F0E8"/>
                </a:solidFill>
                <a:latin typeface="Calibri"/>
              </a:rPr>
              <a:t>Descriptive Statistics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5276088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E8A83A"/>
                </a:solidFill>
                <a:latin typeface="Calibri"/>
              </a:rPr>
              <a:t>Distribution Analysis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5392" y="5486400"/>
            <a:ext cx="484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28A68"/>
                </a:solidFill>
                <a:latin typeface="Calibri"/>
              </a:rPr>
              <a:t>Describes the spread and frequency of burnout and stress across student groups.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0E8"/>
                </a:solidFill>
                <a:latin typeface="Georgia"/>
              </a:rPr>
              <a:t>BURNOUT PREDICTION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E8A83A"/>
                </a:solidFill>
                <a:latin typeface="Calibri"/>
              </a:rPr>
              <a:t>Multiple Linear Regression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98423"/>
            <a:ext cx="11183112" cy="32004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3520440" cy="2368296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3520440" cy="438912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50292" cy="228600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18872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E8A83A"/>
                </a:solidFill>
                <a:latin typeface="Calibri"/>
              </a:rPr>
              <a:t>MODEL SPECIFICATION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09928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8FC4A6"/>
                </a:solidFill>
                <a:latin typeface="Calibri"/>
              </a:rPr>
              <a:t>Dependent Variable: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84248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F0E8"/>
                </a:solidFill>
                <a:latin typeface="Calibri"/>
              </a:rPr>
              <a:t>Burnout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37744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8FC4A6"/>
                </a:solidFill>
                <a:latin typeface="Calibri"/>
              </a:rPr>
              <a:t>Predictors: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65176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8E0D0"/>
                </a:solidFill>
                <a:latin typeface="Calibri"/>
              </a:rPr>
              <a:t>  ·  Daily Study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907791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8E0D0"/>
                </a:solidFill>
                <a:latin typeface="Calibri"/>
              </a:rPr>
              <a:t>  ·  Academic Pressure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163824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8E0D0"/>
                </a:solidFill>
                <a:latin typeface="Calibri"/>
              </a:rPr>
              <a:t>  ·  Social Support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143000"/>
            <a:ext cx="2423160" cy="228600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1960" y="1143000"/>
            <a:ext cx="2423160" cy="36576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61688" y="1298448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A83A"/>
                </a:solidFill>
                <a:latin typeface="Georgia"/>
              </a:rPr>
              <a:t>+8.8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057400"/>
            <a:ext cx="2240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528A68"/>
                </a:solidFill>
                <a:latin typeface="Calibri"/>
              </a:rPr>
              <a:t>per study hour added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2377440"/>
            <a:ext cx="1965960" cy="27432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2395728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A83A"/>
                </a:solidFill>
                <a:latin typeface="Calibri"/>
              </a:rPr>
              <a:t>STRONG POSITIVE EFFECT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743200"/>
            <a:ext cx="2240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E0D0"/>
                </a:solidFill>
                <a:latin typeface="Calibri"/>
              </a:rPr>
              <a:t>Study time is the dominant driver of student burnout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85432" y="1143000"/>
            <a:ext cx="2423160" cy="228600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85432" y="1143000"/>
            <a:ext cx="2423160" cy="36576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95160" y="1298448"/>
            <a:ext cx="2194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528A68"/>
                </a:solidFill>
                <a:latin typeface="Georgia"/>
              </a:rPr>
              <a:t>+0.001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1910885"/>
            <a:ext cx="2240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528A68"/>
                </a:solidFill>
                <a:latin typeface="Calibri"/>
              </a:rPr>
              <a:t>per pressure unit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2259907"/>
            <a:ext cx="1965960" cy="27432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64471" y="2232362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528A68"/>
                </a:solidFill>
                <a:latin typeface="Calibri"/>
              </a:rPr>
              <a:t>MINIMAL POSITIVE EFFECT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2700039"/>
            <a:ext cx="2240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E8E0D0"/>
                </a:solidFill>
                <a:latin typeface="Calibri"/>
              </a:rPr>
              <a:t>Academic pressure contributes positively but at low magnitude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18904" y="1143000"/>
            <a:ext cx="2423160" cy="228600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518904" y="1143000"/>
            <a:ext cx="2423160" cy="36576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28632" y="1298448"/>
            <a:ext cx="2194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solidFill>
                  <a:srgbClr val="8FC4A6"/>
                </a:solidFill>
                <a:latin typeface="Georgia"/>
              </a:rPr>
              <a:t>0.0002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69343" y="2011680"/>
            <a:ext cx="2240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528A68"/>
                </a:solidFill>
                <a:latin typeface="Calibri"/>
              </a:rPr>
              <a:t>per support unit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47504" y="2377440"/>
            <a:ext cx="1965960" cy="27432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47504" y="2395728"/>
            <a:ext cx="1965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8FC4A6"/>
                </a:solidFill>
                <a:latin typeface="Calibri"/>
              </a:rPr>
              <a:t>MINIMAL PROTECTIVE EFFECT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10344" y="2743200"/>
            <a:ext cx="2240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E0D0"/>
                </a:solidFill>
                <a:latin typeface="Calibri"/>
              </a:rPr>
              <a:t>Social support provides a modest buffer against burnout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657600"/>
            <a:ext cx="11183112" cy="274320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2920" y="3657600"/>
            <a:ext cx="50292" cy="274320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" y="3749039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E8A83A"/>
                </a:solidFill>
                <a:latin typeface="Calibri"/>
              </a:rPr>
              <a:t>KEY INTERPRETATIONS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4251960"/>
            <a:ext cx="11018520" cy="56692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4360" y="4251960"/>
            <a:ext cx="36576" cy="56692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9808" y="4306824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83A"/>
                </a:solidFill>
                <a:latin typeface="Calibri"/>
              </a:rPr>
              <a:t>Study Load: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95728" y="4306824"/>
            <a:ext cx="9052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0D0"/>
                </a:solidFill>
                <a:latin typeface="Calibri"/>
              </a:rPr>
              <a:t>Each additional hour of daily study raises burnout by 8.8 units — a substantial and significant effect that dwarfs all other predictors.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4937760"/>
            <a:ext cx="11018520" cy="56692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4360" y="4937760"/>
            <a:ext cx="36576" cy="56692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9808" y="4992624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83A"/>
                </a:solidFill>
                <a:latin typeface="Calibri"/>
              </a:rPr>
              <a:t>Social Support: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95728" y="4992624"/>
            <a:ext cx="9052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0D0"/>
                </a:solidFill>
                <a:latin typeface="Calibri"/>
              </a:rPr>
              <a:t>Social support acts as a protective factor. While the coefficient is small, its direction is consistently negative — buffering burnout risk.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5623560"/>
            <a:ext cx="11018520" cy="56692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94360" y="5623560"/>
            <a:ext cx="36576" cy="56692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9808" y="5678424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83A"/>
                </a:solidFill>
                <a:latin typeface="Calibri"/>
              </a:rPr>
              <a:t>Academic Pressure: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95728" y="5678424"/>
            <a:ext cx="9052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0D0"/>
                </a:solidFill>
                <a:latin typeface="Calibri"/>
              </a:rPr>
              <a:t>Academic pressure contributes to burnout but its statistical weight is minimal, suggesting workload volume matters more than perceived pressure.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0E8"/>
                </a:solidFill>
                <a:latin typeface="Georgia"/>
              </a:rPr>
              <a:t>BURNOUT MODEL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" y="67944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8FC4A6"/>
                </a:solidFill>
                <a:latin typeface="Calibri"/>
              </a:rPr>
              <a:t>Residual Analysis — What lies beneath the surface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32004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11183112" cy="68580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50292" cy="685800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207008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FC4A6"/>
                </a:solidFill>
                <a:latin typeface="Calibri"/>
              </a:rPr>
              <a:t>DESCRIPTIVE FINDING: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207008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0E8"/>
                </a:solidFill>
                <a:latin typeface="Calibri"/>
              </a:rPr>
              <a:t>Burnout levels (High, Medium, Low) appear evenly distributed — suggesting balanced spread across the student population.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11680"/>
            <a:ext cx="3657600" cy="333756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011680"/>
            <a:ext cx="3657600" cy="50292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011680"/>
            <a:ext cx="50292" cy="3337560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208483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6A4E"/>
                </a:solidFill>
                <a:latin typeface="Georgia"/>
              </a:rP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45059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6A4E"/>
                </a:solidFill>
                <a:latin typeface="Calibri"/>
              </a:rPr>
              <a:t>HIGH
BURNOUT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3090672"/>
            <a:ext cx="3017520" cy="27432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3108960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D46A4E"/>
                </a:solidFill>
                <a:latin typeface="Calibri"/>
              </a:rPr>
              <a:t>UNDERESTIMATED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429000"/>
            <a:ext cx="301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Residual &gt;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33832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0D0"/>
                </a:solidFill>
                <a:latin typeface="Calibri"/>
              </a:rPr>
              <a:t>The model predicts lower burnout than what students actually experience. Severe cases are being systematically missed by standard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7" y="2011680"/>
            <a:ext cx="3657600" cy="333756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07407" y="2011680"/>
            <a:ext cx="3657600" cy="50292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07407" y="2011680"/>
            <a:ext cx="50292" cy="3337560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8575" y="208483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28A68"/>
                </a:solidFill>
                <a:latin typeface="Georgia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5" y="245059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28A68"/>
                </a:solidFill>
                <a:latin typeface="Calibri"/>
              </a:rPr>
              <a:t>MEDIUM
BURNOUT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08575" y="3090672"/>
            <a:ext cx="3017520" cy="27432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08575" y="3108960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8A68"/>
                </a:solidFill>
                <a:latin typeface="Calibri"/>
              </a:rPr>
              <a:t>ACCURATELY PREDICTED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5" y="3429000"/>
            <a:ext cx="301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Residual ≈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3749039"/>
            <a:ext cx="33832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0D0"/>
                </a:solidFill>
                <a:latin typeface="Calibri"/>
              </a:rPr>
              <a:t>The model performs well for medium-level cases. Residuals are close to zero, confirming the model captures the mid-range group reliably.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11896" y="2011680"/>
            <a:ext cx="3657600" cy="333756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11896" y="2011680"/>
            <a:ext cx="3657600" cy="50292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11896" y="2011680"/>
            <a:ext cx="50292" cy="3337560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13064" y="208483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FC4A6"/>
                </a:solidFill>
                <a:latin typeface="Georgia"/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3064" y="245059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FC4A6"/>
                </a:solidFill>
                <a:latin typeface="Calibri"/>
              </a:rPr>
              <a:t>LOW
BURNOUT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13064" y="3090672"/>
            <a:ext cx="3017520" cy="27432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13064" y="3108960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FC4A6"/>
                </a:solidFill>
                <a:latin typeface="Calibri"/>
              </a:rPr>
              <a:t>OVERESTIMATED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3064" y="3429000"/>
            <a:ext cx="301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Residual &lt; 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49056" y="3749039"/>
            <a:ext cx="33832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0D0"/>
                </a:solidFill>
                <a:latin typeface="Calibri"/>
              </a:rPr>
              <a:t>The model predicts higher burnout than observed for low-risk students. Low-risk individuals are actually doing better than the model suggests.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532120"/>
            <a:ext cx="11183112" cy="1005840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2920" y="5532120"/>
            <a:ext cx="50292" cy="1005840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" y="5605272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6A4E"/>
                </a:solidFill>
                <a:latin typeface="Calibri"/>
              </a:rPr>
              <a:t>CRITICAL FINDING: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925312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5F0E8"/>
                </a:solidFill>
                <a:latin typeface="Calibri"/>
              </a:rPr>
              <a:t>The model pulls extreme values toward the mean — masking true severity. Residual analysis exposes hidden high-risk students invisible to descriptive statistics alone. Equal distributions can be deeply misleading.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0E8"/>
                </a:solidFill>
                <a:latin typeface="Georgia"/>
              </a:rPr>
              <a:t>STUDENT STRESS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6887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D46A4E"/>
                </a:solidFill>
                <a:latin typeface="Calibri"/>
              </a:rPr>
              <a:t>Multiple Linear Regression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32004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3520440" cy="228600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3520440" cy="438912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50292" cy="2286000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188720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4E"/>
                </a:solidFill>
                <a:latin typeface="Calibri"/>
              </a:rPr>
              <a:t>MODEL SPECIFICATION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09928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FC4A6"/>
                </a:solidFill>
                <a:latin typeface="Calibri"/>
              </a:rPr>
              <a:t>Dependent Variable: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84248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0E8"/>
                </a:solidFill>
                <a:latin typeface="Calibri"/>
              </a:rPr>
              <a:t>Student Stress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37744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FC4A6"/>
                </a:solidFill>
                <a:latin typeface="Calibri"/>
              </a:rPr>
              <a:t>Predictors: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65176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0D0"/>
                </a:solidFill>
                <a:latin typeface="Calibri"/>
              </a:rPr>
              <a:t>  ·  Daily Study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907791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0D0"/>
                </a:solidFill>
                <a:latin typeface="Calibri"/>
              </a:rPr>
              <a:t>  ·  Sleep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163824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0D0"/>
                </a:solidFill>
                <a:latin typeface="Calibri"/>
              </a:rPr>
              <a:t>  ·  Financial Stress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143000"/>
            <a:ext cx="2423160" cy="228600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1960" y="1143000"/>
            <a:ext cx="2423160" cy="36576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61688" y="1298448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6A4E"/>
                </a:solidFill>
                <a:latin typeface="Georgia"/>
              </a:rPr>
              <a:t>+8.9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057400"/>
            <a:ext cx="2240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528A68"/>
                </a:solidFill>
                <a:latin typeface="Calibri"/>
              </a:rPr>
              <a:t>per study hour added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2377440"/>
            <a:ext cx="1965960" cy="27432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2395728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6A4E"/>
                </a:solidFill>
                <a:latin typeface="Calibri"/>
              </a:rPr>
              <a:t>DOMINANT PREDICTOR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743200"/>
            <a:ext cx="2240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E0D0"/>
                </a:solidFill>
                <a:latin typeface="Calibri"/>
              </a:rPr>
              <a:t>Study load drives stress more than any other measured factor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85432" y="1143000"/>
            <a:ext cx="2423160" cy="228600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85432" y="1143000"/>
            <a:ext cx="2423160" cy="36576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95160" y="1298448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FC4A6"/>
                </a:solidFill>
                <a:latin typeface="Georgia"/>
              </a:rPr>
              <a:t>–0.001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2057400"/>
            <a:ext cx="2240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528A68"/>
                </a:solidFill>
                <a:latin typeface="Calibri"/>
              </a:rPr>
              <a:t>per sleep quality unit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14032" y="2377440"/>
            <a:ext cx="1965960" cy="27432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14032" y="2395728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FC4A6"/>
                </a:solidFill>
                <a:latin typeface="Calibri"/>
              </a:rPr>
              <a:t>PROTECTIVE FACTOR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2743200"/>
            <a:ext cx="2240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E0D0"/>
                </a:solidFill>
                <a:latin typeface="Calibri"/>
              </a:rPr>
              <a:t>Improved sleep quality directly reduces student stress levels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18904" y="1143000"/>
            <a:ext cx="2423160" cy="228600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518904" y="1143000"/>
            <a:ext cx="2423160" cy="36576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28632" y="1298448"/>
            <a:ext cx="2194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E8A83A"/>
                </a:solidFill>
                <a:latin typeface="Georgia"/>
              </a:rPr>
              <a:t>+0.004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0344" y="2057400"/>
            <a:ext cx="2240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528A68"/>
                </a:solidFill>
                <a:latin typeface="Calibri"/>
              </a:rPr>
              <a:t>per financial stress unit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47504" y="2377440"/>
            <a:ext cx="1965960" cy="27432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47504" y="2395728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A83A"/>
                </a:solidFill>
                <a:latin typeface="Calibri"/>
              </a:rPr>
              <a:t>SECONDARY STRESSOR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10344" y="2743200"/>
            <a:ext cx="2240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E0D0"/>
                </a:solidFill>
                <a:latin typeface="Calibri"/>
              </a:rPr>
              <a:t>Financial pressure independently adds to stress beyond academics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657600"/>
            <a:ext cx="11183112" cy="274320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2920" y="3657600"/>
            <a:ext cx="50292" cy="2743200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" y="3749039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D46A4E"/>
                </a:solidFill>
                <a:latin typeface="Calibri"/>
              </a:rPr>
              <a:t>KEY INTERPRETATIONS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4251960"/>
            <a:ext cx="11018520" cy="56692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4360" y="4251960"/>
            <a:ext cx="36576" cy="566928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9808" y="4306824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4E"/>
                </a:solidFill>
                <a:latin typeface="Calibri"/>
              </a:rPr>
              <a:t>Study Load: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95728" y="4306824"/>
            <a:ext cx="9052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0D0"/>
                </a:solidFill>
                <a:latin typeface="Calibri"/>
              </a:rPr>
              <a:t>At +8.9, study hours again dominate — identical in pattern to the burnout model, confirming study time as the central mental health stressor.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4937760"/>
            <a:ext cx="11018520" cy="56692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4360" y="4937760"/>
            <a:ext cx="36576" cy="566928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9808" y="4992624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4E"/>
                </a:solidFill>
                <a:latin typeface="Calibri"/>
              </a:rPr>
              <a:t>Sleep Quality: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95728" y="4992624"/>
            <a:ext cx="9052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0D0"/>
                </a:solidFill>
                <a:latin typeface="Calibri"/>
              </a:rPr>
              <a:t>Sleep has a consistent negative effect on stress. Improving sleep hygiene is a direct, evidence-based lever for reducing student mental load.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5623560"/>
            <a:ext cx="11018520" cy="56692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94360" y="5623560"/>
            <a:ext cx="36576" cy="566928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9808" y="5678424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4E"/>
                </a:solidFill>
                <a:latin typeface="Calibri"/>
              </a:rPr>
              <a:t>Financial Stress: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95728" y="5678424"/>
            <a:ext cx="9052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0D0"/>
                </a:solidFill>
                <a:latin typeface="Calibri"/>
              </a:rPr>
              <a:t>While smaller in magnitude, financial stress is an independent stressor — students facing economic pressure experience compounded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0E8"/>
                </a:solidFill>
                <a:latin typeface="Georgia"/>
              </a:rPr>
              <a:t>STRESS MODEL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" y="63372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D46A4E"/>
                </a:solidFill>
                <a:latin typeface="Calibri"/>
              </a:rPr>
              <a:t>Residual Analysis — Confirming a systemic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32004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11183112" cy="68580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50292" cy="685800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207008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8FC4A6"/>
                </a:solidFill>
                <a:latin typeface="Calibri"/>
              </a:rPr>
              <a:t>DESCRIPTIVE FINDING: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207008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0E8"/>
                </a:solidFill>
                <a:latin typeface="Calibri"/>
              </a:rPr>
              <a:t>Stress levels (High, Medium, Low) show equal distribution — descriptively suggesting an even spread across the student population.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11680"/>
            <a:ext cx="3657600" cy="333756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011680"/>
            <a:ext cx="3657600" cy="50292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011680"/>
            <a:ext cx="50292" cy="3337560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208483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6A4E"/>
                </a:solidFill>
                <a:latin typeface="Georgia"/>
              </a:rP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45059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46A4E"/>
                </a:solidFill>
                <a:latin typeface="Calibri"/>
              </a:rPr>
              <a:t>HIGH
STRESS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3090672"/>
            <a:ext cx="3017520" cy="27432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3108960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D46A4E"/>
                </a:solidFill>
                <a:latin typeface="Calibri"/>
              </a:rPr>
              <a:t>UNDERESTIMATED</a:t>
            </a:r>
            <a:endParaRPr sz="1200" b="1" i="0" dirty="0">
              <a:solidFill>
                <a:srgbClr val="D46A4E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4088" y="3429000"/>
            <a:ext cx="301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Residual &gt;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3383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8E0D0"/>
                </a:solidFill>
                <a:latin typeface="Calibri"/>
              </a:rPr>
              <a:t>Severe stress cases exceed what the model predicts. High-stress students are more distressed than surface-level data implies.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7" y="2011680"/>
            <a:ext cx="3657600" cy="333756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07407" y="2011680"/>
            <a:ext cx="3657600" cy="50292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07407" y="2011680"/>
            <a:ext cx="50292" cy="3337560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8575" y="208483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28A68"/>
                </a:solidFill>
                <a:latin typeface="Georgia"/>
              </a:rPr>
              <a:t>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5" y="245059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28A68"/>
                </a:solidFill>
                <a:latin typeface="Calibri"/>
              </a:rPr>
              <a:t>MEDIUM
STRESS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08575" y="3090672"/>
            <a:ext cx="3017520" cy="27432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4608575" y="3108960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528A68"/>
                </a:solidFill>
                <a:latin typeface="Calibri"/>
              </a:rPr>
              <a:t>NEUTRALLY PREDICTED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5" y="3429000"/>
            <a:ext cx="301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Residual ≈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3749039"/>
            <a:ext cx="3383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8E0D0"/>
                </a:solidFill>
                <a:latin typeface="Calibri"/>
              </a:rPr>
              <a:t>Residuals are near zero for medium-stress students. The model captures the middle range accurately.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11896" y="2011680"/>
            <a:ext cx="3657600" cy="333756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11896" y="2011680"/>
            <a:ext cx="3657600" cy="50292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11896" y="2011680"/>
            <a:ext cx="50292" cy="3337560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13064" y="208483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FC4A6"/>
                </a:solidFill>
                <a:latin typeface="Georgia"/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3064" y="245059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FC4A6"/>
                </a:solidFill>
                <a:latin typeface="Calibri"/>
              </a:rPr>
              <a:t>LOW
STRESS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13064" y="3090672"/>
            <a:ext cx="3017520" cy="27432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13064" y="3108960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8FC4A6"/>
                </a:solidFill>
                <a:latin typeface="Calibri"/>
              </a:rPr>
              <a:t>OVERESTIMATED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3064" y="3429000"/>
            <a:ext cx="301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Residual &lt; 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49056" y="3749039"/>
            <a:ext cx="3383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8E0D0"/>
                </a:solidFill>
                <a:latin typeface="Calibri"/>
              </a:rPr>
              <a:t>Low-stress students appear healthier than predicted. The model slightly overestimates risk in the low-stress group.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532120"/>
            <a:ext cx="11183112" cy="1005840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2920" y="5532120"/>
            <a:ext cx="50292" cy="1005840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" y="5605272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D46A4E"/>
                </a:solidFill>
                <a:latin typeface="Calibri"/>
              </a:rPr>
              <a:t>PATTERN MATCH CONFIRMED: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925312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0E8"/>
                </a:solidFill>
                <a:latin typeface="Calibri"/>
              </a:rPr>
              <a:t>Stress residuals mirror burnout residuals exactly — confirming a cross-model systemic pattern. High-risk students are consistently undercounted. Severity is masked by distributional balance.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0E8"/>
                </a:solidFill>
                <a:latin typeface="Georgia"/>
              </a:rPr>
              <a:t>MENTAL HEALTH TREND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8066" y="67743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528A68"/>
                </a:solidFill>
                <a:latin typeface="Calibri"/>
              </a:rPr>
              <a:t>Composite Risk Indicator across all academic year levels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32004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3977639" cy="461772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3977639" cy="45720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50292" cy="4617720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188720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28A68"/>
                </a:solidFill>
                <a:latin typeface="Calibri"/>
              </a:rPr>
              <a:t>ANALYTICAL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37360"/>
            <a:ext cx="3749039" cy="304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FC4A6"/>
                </a:solidFill>
                <a:latin typeface="Calibri"/>
              </a:rPr>
              <a:t>Composite Variable Construction: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F5F0E8"/>
                </a:solidFill>
                <a:latin typeface="Calibri"/>
              </a:rPr>
              <a:t>Mental Health Score =</a:t>
            </a:r>
          </a:p>
          <a:p>
            <a:pPr algn="l">
              <a:spcAft>
                <a:spcPts val="1400"/>
              </a:spcAft>
            </a:pPr>
            <a:r>
              <a:rPr b="1" i="0">
                <a:solidFill>
                  <a:srgbClr val="528A68"/>
                </a:solidFill>
                <a:latin typeface="Calibri"/>
              </a:rPr>
              <a:t>Burnout Residual + Stress Residual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FC4A6"/>
                </a:solidFill>
                <a:latin typeface="Calibri"/>
              </a:rPr>
              <a:t>Risk Classification Rule: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46A4E"/>
                </a:solidFill>
                <a:latin typeface="Calibri"/>
              </a:rPr>
              <a:t>Residual &gt; 0  →  HIGH RISK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8FC4A6"/>
                </a:solidFill>
                <a:latin typeface="Calibri"/>
              </a:rPr>
              <a:t>Residual &lt; 0  →  LOW RISK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FC4A6"/>
                </a:solidFill>
                <a:latin typeface="Calibri"/>
              </a:rPr>
              <a:t>Rationale: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8E0D0"/>
                </a:solidFill>
                <a:latin typeface="Calibri"/>
              </a:rPr>
              <a:t>Residuals capture the gap between predicted and actual mental health — isolating true at-risk cases that descriptive data misses.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143000"/>
            <a:ext cx="1719072" cy="461772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09160" y="1143000"/>
            <a:ext cx="1719072" cy="36576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82312" y="123444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1st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37176" y="1691640"/>
            <a:ext cx="1463040" cy="640080"/>
          </a:xfrm>
          <a:prstGeom prst="rect">
            <a:avLst/>
          </a:prstGeom>
          <a:solidFill>
            <a:srgbClr val="1A5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37176" y="1755648"/>
            <a:ext cx="146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8FC4A6"/>
                </a:solidFill>
                <a:latin typeface="Calibri"/>
              </a:rPr>
              <a:t>LOW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2029968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28A68"/>
                </a:solidFill>
                <a:latin typeface="Calibri"/>
              </a:rPr>
              <a:t>Dominates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37176" y="2468880"/>
            <a:ext cx="1463040" cy="192024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37176" y="2468880"/>
            <a:ext cx="1463040" cy="1463040"/>
          </a:xfrm>
          <a:prstGeom prst="rect">
            <a:avLst/>
          </a:prstGeom>
          <a:solidFill>
            <a:srgbClr val="2D6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37176" y="2578608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FC4A6"/>
                </a:solidFill>
                <a:latin typeface="Calibri"/>
              </a:rPr>
              <a:t>Low Risk
~65–75%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37176" y="3931920"/>
            <a:ext cx="1463040" cy="457200"/>
          </a:xfrm>
          <a:prstGeom prst="rect">
            <a:avLst/>
          </a:prstGeom>
          <a:solidFill>
            <a:srgbClr val="5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37176" y="3959352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6A4E"/>
                </a:solidFill>
                <a:latin typeface="Calibri"/>
              </a:rPr>
              <a:t>High Risk
~25–35%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6248" y="1143000"/>
            <a:ext cx="1719072" cy="461772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56248" y="1143000"/>
            <a:ext cx="1719072" cy="36576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123444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2nd Year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84264" y="1691640"/>
            <a:ext cx="1463040" cy="640080"/>
          </a:xfrm>
          <a:prstGeom prst="rect">
            <a:avLst/>
          </a:prstGeom>
          <a:solidFill>
            <a:srgbClr val="1A5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84264" y="1755648"/>
            <a:ext cx="146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FC4A6"/>
                </a:solidFill>
                <a:latin typeface="Calibri"/>
              </a:rPr>
              <a:t>LOW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2029968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28A68"/>
                </a:solidFill>
                <a:latin typeface="Calibri"/>
              </a:rPr>
              <a:t>Dominates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84264" y="2468880"/>
            <a:ext cx="1463040" cy="192024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684264" y="2468880"/>
            <a:ext cx="1463040" cy="1463040"/>
          </a:xfrm>
          <a:prstGeom prst="rect">
            <a:avLst/>
          </a:prstGeom>
          <a:solidFill>
            <a:srgbClr val="2D6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84264" y="2578608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FC4A6"/>
                </a:solidFill>
                <a:latin typeface="Calibri"/>
              </a:rPr>
              <a:t>Low Risk
~65–75%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84264" y="3931920"/>
            <a:ext cx="1463040" cy="457200"/>
          </a:xfrm>
          <a:prstGeom prst="rect">
            <a:avLst/>
          </a:prstGeom>
          <a:solidFill>
            <a:srgbClr val="5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84264" y="3959352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6A4E"/>
                </a:solidFill>
                <a:latin typeface="Calibri"/>
              </a:rPr>
              <a:t>High Risk
~25–35%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3336" y="1143000"/>
            <a:ext cx="1719072" cy="461772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403336" y="1143000"/>
            <a:ext cx="1719072" cy="36576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76488" y="123444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3rd Year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31352" y="1691640"/>
            <a:ext cx="1463040" cy="640080"/>
          </a:xfrm>
          <a:prstGeom prst="rect">
            <a:avLst/>
          </a:prstGeom>
          <a:solidFill>
            <a:srgbClr val="1A5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31352" y="1755648"/>
            <a:ext cx="146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FC4A6"/>
                </a:solidFill>
                <a:latin typeface="Calibri"/>
              </a:rPr>
              <a:t>LOW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1352" y="2029968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28A68"/>
                </a:solidFill>
                <a:latin typeface="Calibri"/>
              </a:rPr>
              <a:t>Dominates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31352" y="2468880"/>
            <a:ext cx="1463040" cy="192024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531352" y="2468880"/>
            <a:ext cx="1463040" cy="1463040"/>
          </a:xfrm>
          <a:prstGeom prst="rect">
            <a:avLst/>
          </a:prstGeom>
          <a:solidFill>
            <a:srgbClr val="2D6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31352" y="2578608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FC4A6"/>
                </a:solidFill>
                <a:latin typeface="Calibri"/>
              </a:rPr>
              <a:t>Low Risk
~65–75%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31352" y="3931920"/>
            <a:ext cx="1463040" cy="457200"/>
          </a:xfrm>
          <a:prstGeom prst="rect">
            <a:avLst/>
          </a:prstGeom>
          <a:solidFill>
            <a:srgbClr val="5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31352" y="3959352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6A4E"/>
                </a:solidFill>
                <a:latin typeface="Calibri"/>
              </a:rPr>
              <a:t>High Risk
~25–35%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50424" y="1143000"/>
            <a:ext cx="1719072" cy="461772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250424" y="1143000"/>
            <a:ext cx="1719072" cy="36576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323576" y="123444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4th Year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78440" y="1691640"/>
            <a:ext cx="1463040" cy="640080"/>
          </a:xfrm>
          <a:prstGeom prst="rect">
            <a:avLst/>
          </a:prstGeom>
          <a:solidFill>
            <a:srgbClr val="1A5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78440" y="1755648"/>
            <a:ext cx="146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FC4A6"/>
                </a:solidFill>
                <a:latin typeface="Calibri"/>
              </a:rPr>
              <a:t>LOW 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2029968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28A68"/>
                </a:solidFill>
                <a:latin typeface="Calibri"/>
              </a:rPr>
              <a:t>Dominates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78440" y="2468880"/>
            <a:ext cx="1463040" cy="1920240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378440" y="2468880"/>
            <a:ext cx="1463040" cy="1463040"/>
          </a:xfrm>
          <a:prstGeom prst="rect">
            <a:avLst/>
          </a:prstGeom>
          <a:solidFill>
            <a:srgbClr val="2D6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378440" y="2578608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FC4A6"/>
                </a:solidFill>
                <a:latin typeface="Calibri"/>
              </a:rPr>
              <a:t>Low Risk
~65–75%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78440" y="3931920"/>
            <a:ext cx="1463040" cy="457200"/>
          </a:xfrm>
          <a:prstGeom prst="rect">
            <a:avLst/>
          </a:prstGeom>
          <a:solidFill>
            <a:srgbClr val="5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378440" y="3959352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6A4E"/>
                </a:solidFill>
                <a:latin typeface="Calibri"/>
              </a:rPr>
              <a:t>High Risk
~25–35%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5925312"/>
            <a:ext cx="11183112" cy="640080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02920" y="5925312"/>
            <a:ext cx="50292" cy="640080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85800" y="59893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5F0E8"/>
                </a:solidFill>
                <a:latin typeface="Calibri"/>
              </a:rPr>
              <a:t>⚠  While low-risk dominates across all years, residual analysis consistently identifies a significant hidden high-risk minority — invisible to standard descriptive approaches.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F0E8"/>
                </a:solidFill>
                <a:latin typeface="Georgia"/>
              </a:rPr>
              <a:t>CONCLUSIONS &amp;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22960"/>
            <a:ext cx="11183112" cy="32004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960120"/>
            <a:ext cx="5376672" cy="544068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5376672" cy="438912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960120"/>
            <a:ext cx="50292" cy="5440680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00584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8FC4A6"/>
                </a:solidFill>
                <a:latin typeface="Calibri"/>
              </a:rPr>
              <a:t>KEY CONCLUSIONS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536192"/>
            <a:ext cx="5193792" cy="74980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536192"/>
            <a:ext cx="36576" cy="749808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1591056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83A"/>
                </a:solidFill>
                <a:latin typeface="Calibri"/>
              </a:rPr>
              <a:t>Study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83664"/>
            <a:ext cx="4754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0D0"/>
                </a:solidFill>
                <a:latin typeface="Calibri"/>
              </a:rPr>
              <a:t>Most significant predictor of both burnout and stress — far exceeding all other factors in magnitude.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450591"/>
            <a:ext cx="5193792" cy="74980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2450591"/>
            <a:ext cx="36576" cy="749808"/>
          </a:xfrm>
          <a:prstGeom prst="rect">
            <a:avLst/>
          </a:prstGeom>
          <a:solidFill>
            <a:srgbClr val="8F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2505456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FC4A6"/>
                </a:solidFill>
                <a:latin typeface="Calibri"/>
              </a:rPr>
              <a:t>Protective Factors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798063"/>
            <a:ext cx="4754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0D0"/>
                </a:solidFill>
                <a:latin typeface="Calibri"/>
              </a:rPr>
              <a:t>Sleep quality and social support consistently reduce mental health risk; they are evidence-based intervention targets.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364991"/>
            <a:ext cx="5193792" cy="74980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3364991"/>
            <a:ext cx="36576" cy="749808"/>
          </a:xfrm>
          <a:prstGeom prst="rect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3419856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6A4E"/>
                </a:solidFill>
                <a:latin typeface="Calibri"/>
              </a:rPr>
              <a:t>Hidden Severity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712463"/>
            <a:ext cx="4754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0D0"/>
                </a:solidFill>
                <a:latin typeface="Calibri"/>
              </a:rPr>
              <a:t>Residual analysis reveals high-risk students masked by distributional balance in descriptive statistics.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279392"/>
            <a:ext cx="5193792" cy="74980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4279392"/>
            <a:ext cx="36576" cy="749808"/>
          </a:xfrm>
          <a:prstGeom prst="rect">
            <a:avLst/>
          </a:prstGeom>
          <a:solidFill>
            <a:srgbClr val="52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4334255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28A68"/>
                </a:solidFill>
                <a:latin typeface="Calibri"/>
              </a:rPr>
              <a:t>Misleading Averages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626864"/>
            <a:ext cx="4754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0D0"/>
                </a:solidFill>
                <a:latin typeface="Calibri"/>
              </a:rPr>
              <a:t>Descriptive analysis alone is insufficient; residual patterns expose the true depth of student distress.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193792"/>
            <a:ext cx="5193792" cy="74980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" y="5193792"/>
            <a:ext cx="36576" cy="7498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5248655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CCCFF"/>
                </a:solidFill>
                <a:latin typeface="Calibri"/>
              </a:rPr>
              <a:t>Consistent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541264"/>
            <a:ext cx="4754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0D0"/>
                </a:solidFill>
                <a:latin typeface="Calibri"/>
              </a:rPr>
              <a:t>Both models show identical residual behaviour, confirming the findings are robust across domains.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64224" y="960120"/>
            <a:ext cx="5376672" cy="5440680"/>
          </a:xfrm>
          <a:prstGeom prst="rect">
            <a:avLst/>
          </a:prstGeom>
          <a:solidFill>
            <a:srgbClr val="22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64224" y="960120"/>
            <a:ext cx="5376672" cy="438912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64224" y="960120"/>
            <a:ext cx="50292" cy="544068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9672" y="100584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3A"/>
                </a:solidFill>
                <a:latin typeface="Calibri"/>
              </a:rPr>
              <a:t>RECOMMENDATIONS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55664" y="1536192"/>
            <a:ext cx="5193792" cy="74980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55664" y="1536192"/>
            <a:ext cx="384048" cy="749808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64808" y="17373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A"/>
                </a:solidFill>
                <a:latin typeface="Calibri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1490471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F5F0E8"/>
                </a:solidFill>
                <a:latin typeface="Calibri"/>
              </a:rPr>
              <a:t>Optimise</a:t>
            </a:r>
            <a:r>
              <a:rPr b="1" i="0" dirty="0">
                <a:solidFill>
                  <a:srgbClr val="F5F0E8"/>
                </a:solidFill>
                <a:latin typeface="Calibri"/>
              </a:rPr>
              <a:t> Academic Workload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1783079"/>
            <a:ext cx="4663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0D0"/>
                </a:solidFill>
                <a:latin typeface="Calibri"/>
              </a:rPr>
              <a:t>Reduce excessive study demands through structured scheduling policies and balanced course loads.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55664" y="2450591"/>
            <a:ext cx="5193792" cy="74980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55664" y="2450591"/>
            <a:ext cx="384048" cy="749808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64808" y="26517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A"/>
                </a:solidFill>
                <a:latin typeface="Calibri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2404871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5F0E8"/>
                </a:solidFill>
                <a:latin typeface="Calibri"/>
              </a:rPr>
              <a:t>Strengthen Support Systems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2697478"/>
            <a:ext cx="4663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0D0"/>
                </a:solidFill>
                <a:latin typeface="Calibri"/>
              </a:rPr>
              <a:t>Expand counseling, peer mentoring, and accessible mental health resources on campuses.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55664" y="3364991"/>
            <a:ext cx="5193792" cy="74980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55664" y="3364991"/>
            <a:ext cx="384048" cy="749808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64808" y="35661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A"/>
                </a:solidFill>
                <a:latin typeface="Calibri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3319271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5F0E8"/>
                </a:solidFill>
                <a:latin typeface="Calibri"/>
              </a:rPr>
              <a:t>Promote Healthy Sleep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712463"/>
            <a:ext cx="4663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0D0"/>
                </a:solidFill>
                <a:latin typeface="Calibri"/>
              </a:rPr>
              <a:t>Launch awareness campaigns on sleep hygiene; integrate rest into academic wellness frameworks.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55664" y="4279392"/>
            <a:ext cx="5193792" cy="74980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55664" y="4279392"/>
            <a:ext cx="384048" cy="749808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64808" y="4480559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A"/>
                </a:solidFill>
                <a:latin typeface="Calibri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4334255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5F0E8"/>
                </a:solidFill>
                <a:latin typeface="Calibri"/>
              </a:rPr>
              <a:t>Address Financial Stress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626864"/>
            <a:ext cx="4663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0D0"/>
                </a:solidFill>
                <a:latin typeface="Calibri"/>
              </a:rPr>
              <a:t>Extend scholarship programs and financial aid to reduce compounding economic stressors.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55664" y="5193792"/>
            <a:ext cx="5193792" cy="749808"/>
          </a:xfrm>
          <a:prstGeom prst="rect">
            <a:avLst/>
          </a:prstGeom>
          <a:solidFill>
            <a:srgbClr val="14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55664" y="5193792"/>
            <a:ext cx="384048" cy="749808"/>
          </a:xfrm>
          <a:prstGeom prst="rect">
            <a:avLst/>
          </a:prstGeom>
          <a:solidFill>
            <a:srgbClr val="2D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64808" y="5394959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3A"/>
                </a:solidFill>
                <a:latin typeface="Calibri"/>
              </a:rPr>
              <a:t>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5248655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5F0E8"/>
                </a:solidFill>
                <a:latin typeface="Calibri"/>
              </a:rPr>
              <a:t>Deploy Predictive Monitoring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5541264"/>
            <a:ext cx="4663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0D0"/>
                </a:solidFill>
                <a:latin typeface="Calibri"/>
              </a:rPr>
              <a:t>Adopt early-detection models for proactive identification of high-risk students before crisis.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6492240"/>
            <a:ext cx="11183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528A68"/>
                </a:solidFill>
                <a:latin typeface="Calibri"/>
              </a:rPr>
              <a:t>Early intervention powered by predictive modeling can meaningfully reduce student mental health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1141</Words>
  <Application>Microsoft Office PowerPoint</Application>
  <PresentationFormat>Custom</PresentationFormat>
  <Paragraphs>200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olanrewaju faruq</cp:lastModifiedBy>
  <cp:revision>2</cp:revision>
  <dcterms:created xsi:type="dcterms:W3CDTF">2013-01-27T09:14:16Z</dcterms:created>
  <dcterms:modified xsi:type="dcterms:W3CDTF">2026-04-03T22:19:17Z</dcterms:modified>
  <cp:category/>
</cp:coreProperties>
</file>